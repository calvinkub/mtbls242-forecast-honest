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92024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666666"/>
                </a:solidFill>
                <a:latin typeface="Sukhumvit Set"/>
              </a:rPr>
              <a:t>MTBLS242 · การพยากรณ์เมตาบอลิซึมที่ 12 เดือน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 i="0">
                <a:solidFill>
                  <a:srgbClr val="1A1A1A"/>
                </a:solidFill>
                <a:latin typeface="Sukhumvit Set"/>
              </a:rPr>
              <a:t>สิ่งที่ตัวควบคุมตรวจพบ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931920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4206240"/>
            <a:ext cx="108200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666666"/>
                </a:solidFill>
                <a:latin typeface="Sukhumvit Set"/>
              </a:rPr>
              <a:t>ผล PR-AUC 0.671 ที่เคยรายงานไว้ แท้จริงคือปรากฏการณ์ regression to the mean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666666"/>
                </a:solidFill>
                <a:latin typeface="Sukhumvit Set"/>
              </a:rPr>
              <a:t>สไลด์ชุดนี้อธิบายว่าตรวจพบได้อย่างไร และผลที่แก้ไขแล้วบอกอะไร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Sukhumvit Set"/>
              </a:rPr>
              <a:t>ที่มา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Sukhumvit Set"/>
              </a:rPr>
              <a:t>โจทย์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 i="0">
                <a:solidFill>
                  <a:srgbClr val="1A1A1A"/>
                </a:solidFill>
                <a:latin typeface="Sukhumvit Set"/>
              </a:rPr>
              <a:t>ข้อมูล serum ¹H-NMR ก่อนผ่าตัด สามารถพยากรณ์สิ่งที่จะเกิดกับผู้ป่วย</a:t>
            </a:r>
          </a:p>
          <a:p>
            <a:pPr algn="l">
              <a:lnSpc>
                <a:spcPct val="135000"/>
              </a:lnSpc>
            </a:pPr>
            <a:r>
              <a:rPr sz="2100" b="0" i="0">
                <a:solidFill>
                  <a:srgbClr val="1A1A1A"/>
                </a:solidFill>
                <a:latin typeface="Sukhumvit Set"/>
              </a:rPr>
              <a:t>ผ่าตัดกระเพาะลดน้ำหนักในอีก 12 เดือนข้างหน้าได้หรือไม่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20040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1A1A1A"/>
                </a:solidFill>
                <a:latin typeface="Sukhumvit Set"/>
              </a:rPr>
              <a:t>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1363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Sukhumvit Set"/>
              </a:rPr>
              <a:t>ผู้ป่วยที่มีข้อมูลครบ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Sukhumvit Set"/>
              </a:rPr>
              <a:t>ทั้งก่อนผ่าตัดและ 12 เดือน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2498" y="320040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1A1A1A"/>
                </a:solidFill>
                <a:latin typeface="Sukhumvit Set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2498" y="391363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Sukhumvit Set"/>
              </a:rPr>
              <a:t>เมตาโบไลต์ที่วัดค่าได้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Sukhumvit Set"/>
              </a:rPr>
              <a:t>(serum ¹H-NMR)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99196" y="320040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1A1A1A"/>
                </a:solidFill>
                <a:latin typeface="Sukhumvit Set"/>
              </a:rPr>
              <a:t>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9196" y="391363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Sukhumvit Set"/>
              </a:rPr>
              <a:t>ผู้ที่ถูกจัดเป็น strong responder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Sukhumvit Set"/>
              </a:rPr>
              <a:t>(prevalence 43.7%)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394960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66666"/>
                </a:solidFill>
                <a:latin typeface="Sukhumvit Set"/>
              </a:rPr>
              <a:t>ข้อมูลจาก MetaboLights MTBLS242 — รหัสตัวอย่างมีเลขประจำตัวผู้ป่วยที่คงที่ จึงจับคู่ข้อมูลระยะยาวได้จริง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66666"/>
                </a:solidFill>
                <a:latin typeface="Sukhumvit Set"/>
              </a:rPr>
              <a:t>ชุดข้อมูลสาธารณะไม่มี clinical outcome ใด ๆ ไม่มีทั้งน้ำหนักที่ลดและการหายจากโรค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Sukhumvit Set"/>
              </a:rPr>
              <a:t>ผลที่เคยรายงาน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Sukhumvit Set"/>
              </a:rPr>
              <a:t>ผลลัพธ์ที่เคยรายงานไว้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10312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B2182B"/>
                </a:solidFill>
                <a:latin typeface="Sukhumvit Set"/>
              </a:rPr>
              <a:t>0.671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81635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Sukhumvit Set"/>
              </a:rPr>
              <a:t>PR-AUC บนข้อมูลที่กันไว้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2498" y="210312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666666"/>
                </a:solidFill>
                <a:latin typeface="Sukhumvit Set"/>
              </a:rPr>
              <a:t>0.437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2498" y="281635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Sukhumvit Set"/>
              </a:rPr>
              <a:t>baseline ตาม prevalence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99196" y="210312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B2182B"/>
                </a:solidFill>
                <a:latin typeface="Sukhumvit Set"/>
              </a:rPr>
              <a:t>1.54×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99196" y="281635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Sukhumvit Set"/>
              </a:rPr>
              <a:t>lift ที่รายงาน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40480"/>
            <a:ext cx="108200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1A1A1A"/>
                </a:solidFill>
                <a:latin typeface="Sukhumvit Set"/>
              </a:rPr>
              <a:t>ตีความกันว่า NMR ก่อนผ่าตัดมีสัญญาณบอกได้ว่าใครจะตอบสนอง</a:t>
            </a:r>
          </a:p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1A1A1A"/>
                </a:solidFill>
                <a:latin typeface="Sukhumvit Set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1A1A1A"/>
                </a:solidFill>
                <a:latin typeface="Sukhumvit Set"/>
              </a:rPr>
              <a:t>แต่ไม่ใช่ มีข้อผิดพลาด 4 ข้อ และ 3 ใน 4 ข้อนั้น</a:t>
            </a:r>
          </a:p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1A1A1A"/>
                </a:solidFill>
                <a:latin typeface="Sukhumvit Set"/>
              </a:rPr>
              <a:t>การตรวจสอบแบบที่คนทั่วไปทำกันมองไม่เห็น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Sukhumvit Set"/>
              </a:rPr>
              <a:t>ทำไมถึงผิด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Sukhumvit Set"/>
              </a:rPr>
              <a:t>ข้อผิดพลาดที่ 1 — outcome ถูกสร้างขึ้นจาก feature เอง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108200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666666"/>
                </a:solidFill>
                <a:latin typeface="Sukhumvit Set"/>
              </a:rPr>
              <a:t>นิยาม responder คือ “เมตาโบไลต์อย่างน้อย 9 จาก 11 ตัวเปลี่ยนไปในทิศทางที่ดีขึ้น” วัดจากค่า 12 เดือน ลบด้วยค่าก่อนผ่าตัด —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666666"/>
                </a:solidFill>
                <a:latin typeface="Sukhumvit Set"/>
              </a:rPr>
              <a:t>โดยใช้เมตาโบไลต์ 11 ตัวเดียวกันกับที่ป้อนเข้าโมเดลเป็น feature</a:t>
            </a:r>
          </a:p>
        </p:txBody>
      </p:sp>
      <p:pic>
        <p:nvPicPr>
          <p:cNvPr id="6" name="Picture 5" descr="regression_to_the_m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9774" y="2514600"/>
            <a:ext cx="6952147" cy="3246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989320"/>
            <a:ext cx="10820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A1A1A"/>
                </a:solidFill>
                <a:latin typeface="Sukhumvit Set"/>
              </a:rPr>
              <a:t>ค่าตั้งต้นที่สูงผิดปกติย่อมลดลงเข้าหาค่าเฉลี่ยอยู่แล้ว ไม่ว่าจะมีอะไรเกิดขึ้นทางชีววิทยาหรือไม่ โมเดลจึงถูกวัดผลด้วยสิ่งที่มันได้รับมาตั้งแต่ต้น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Sukhumvit Set"/>
              </a:rPr>
              <a:t>ทำไมถึงผิด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Sukhumvit Set"/>
              </a:rPr>
              <a:t>ข้อผิดพลาดที่ 2 — คะแนนต่ำกว่า null ที่ไม่มีสัญญาณของตัวเอง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A"/>
                </a:solidFill>
                <a:latin typeface="Sukhumvit Set"/>
              </a:rPr>
              <a:t>สลับว่าโปรไฟล์ 12 เดือนของใครเป็นของผู้ป่วยคนไหน แล้วสร้าง outcome ขึ้นใหม่ทั้งหมด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A"/>
                </a:solidFill>
                <a:latin typeface="Sukhumvit Set"/>
              </a:rPr>
              <a:t>ไม่มีสัญญาณที่พยากรณ์ได้ใดหลงเหลืออยู่ — ความสัมพันธ์ระดับผู้ป่วยถูกทำลายทั้งหมด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10896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B2182B"/>
                </a:solidFill>
                <a:latin typeface="Sukhumvit Set"/>
              </a:rPr>
              <a:t>1.57×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Sukhumvit Set"/>
              </a:rPr>
              <a:t>lift ที่สังเกตได้จริง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2498" y="310896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1F6F8B"/>
                </a:solidFill>
                <a:latin typeface="Sukhumvit Set"/>
              </a:rPr>
              <a:t>2.04×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2498" y="382219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Sukhumvit Set"/>
              </a:rPr>
              <a:t>ค่ามัธยฐานของ null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99196" y="310896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1F6F8B"/>
                </a:solidFill>
                <a:latin typeface="Sukhumvit Set"/>
              </a:rPr>
              <a:t>2.51×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9196" y="382219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Sukhumvit Set"/>
              </a:rPr>
              <a:t>เปอร์เซ็นไทล์ที่ 95 ของ null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029200"/>
            <a:ext cx="108200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1" i="0">
                <a:solidFill>
                  <a:srgbClr val="B2182B"/>
                </a:solidFill>
                <a:latin typeface="Sukhumvit Set"/>
              </a:rPr>
              <a:t>ข้อมูลจริงได้คะแนนต่ำกว่าค่ากลางของการแจกแจง</a:t>
            </a:r>
          </a:p>
          <a:p>
            <a:pPr algn="l">
              <a:lnSpc>
                <a:spcPct val="130000"/>
              </a:lnSpc>
            </a:pPr>
            <a:r>
              <a:rPr sz="2100" b="1" i="0">
                <a:solidFill>
                  <a:srgbClr val="B2182B"/>
                </a:solidFill>
                <a:latin typeface="Sukhumvit Set"/>
              </a:rPr>
              <a:t>ที่ไม่มีทางมีสัญญาณพยากรณ์อยู่เลย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Sukhumvit Set"/>
              </a:rPr>
              <a:t>ประเด็นเชิงระเบียบวิธี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Sukhumvit Set"/>
              </a:rPr>
              <a:t>ข้อผิดพลาดที่ 3 — permutation test ปล่อยผ่านผลนี้ไปได้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20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666666"/>
                </a:solidFill>
                <a:latin typeface="Sukhumvit Set"/>
              </a:rPr>
              <a:t>เมื่อใช้ outcome แบบเดิม การทดสอบ label-permutation มาตรฐานให้ค่า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 i="0">
                <a:solidFill>
                  <a:srgbClr val="B2182B"/>
                </a:solidFill>
                <a:latin typeface="Sukhumvit Set"/>
              </a:rPr>
              <a:t>p = 0.002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566160"/>
            <a:ext cx="108200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A1A1A"/>
                </a:solidFill>
                <a:latin typeface="Sukhumvit Set"/>
              </a:rPr>
              <a:t>ไม่ใช่ว่าการทดสอบทำงานผิดพลาด ค่าตั้งต้นจัดลำดับป้ายกำกับเหล่านั้นได้ดีกว่าการสุ่มจริง ๆ</a:t>
            </a:r>
          </a:p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A1A1A"/>
                </a:solidFill>
                <a:latin typeface="Sukhumvit Set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A1A1A"/>
                </a:solidFill>
                <a:latin typeface="Sukhumvit Set"/>
              </a:rPr>
              <a:t>แต่การทดสอบนี้ตรึง outcome ไว้คงที่ จึงมองไม่เห็นว่า outcome นั้น</a:t>
            </a:r>
          </a:p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A1A1A"/>
                </a:solidFill>
                <a:latin typeface="Sukhumvit Set"/>
              </a:rPr>
              <a:t>ถูกสร้างขึ้นมาจาก feature ตั้งแต่แรก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440680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623560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A1A1A"/>
                </a:solidFill>
                <a:latin typeface="Sukhumvit Set"/>
              </a:rPr>
              <a:t>permutation test ไม่สามารถยืนยัน outcome ที่เป็นค่าผลต่าง เมื่อค่าตั้งต้นก็เป็น feature ด้วย</a:t>
            </a:r>
          </a:p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A1A1A"/>
                </a:solidFill>
                <a:latin typeface="Sukhumvit Set"/>
              </a:rPr>
              <a:t>มีเพียงการทำลายการจับคู่เท่านั้นที่ตรวจพบได้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Sukhumvit Set"/>
              </a:rPr>
              <a:t>ทำไมถึงผิด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Sukhumvit Set"/>
              </a:rPr>
              <a:t>ข้อผิดพลาดที่ 4 — โมเดลไม่เคยลู่เข้าเลย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01168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B2182B"/>
                </a:solidFill>
                <a:latin typeface="Sukhumvit Set"/>
              </a:rPr>
              <a:t>0.018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72491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Sukhumvit Set"/>
              </a:rPr>
              <a:t>ค่าสัมประสิทธิ์มาตรฐาน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Sukhumvit Set"/>
              </a:rPr>
              <a:t>ที่ใหญ่ที่สุด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2498" y="201168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B2182B"/>
                </a:solidFill>
                <a:latin typeface="Sukhumvit Set"/>
              </a:rPr>
              <a:t>0.653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2498" y="272491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Sukhumvit Set"/>
              </a:rPr>
              <a:t>PR-AUC ของโมเดล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Sukhumvit Set"/>
              </a:rPr>
              <a:t>ที่ “ผ่านการเทรน”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99196" y="201168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1F6F8B"/>
                </a:solidFill>
                <a:latin typeface="Sukhumvit Set"/>
              </a:rPr>
              <a:t>0.653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99196" y="272491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Sukhumvit Set"/>
              </a:rPr>
              <a:t>PR-AUC ของตัวให้คะแนน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Sukhumvit Set"/>
              </a:rPr>
              <a:t>ที่ไม่เรียนรู้อะไรเลย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931920"/>
            <a:ext cx="108200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A"/>
                </a:solidFill>
                <a:latin typeface="Sukhumvit Set"/>
              </a:rPr>
              <a:t>ใช้ projected gradient descent แบบ step คงที่ จำกัดที่ 6000 รอบ เทียบกับค่าปรับ (penalty) ที่ไม่ได้ปรับตาม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A"/>
                </a:solidFill>
                <a:latin typeface="Sukhumvit Set"/>
              </a:rPr>
              <a:t>ขนาดตัวอย่าง โมเดลจึงหยุดในสภาพที่แทบเป็นค่าคงที่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A"/>
                </a:solidFill>
                <a:latin typeface="Sukhumvit Set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A"/>
                </a:solidFill>
                <a:latin typeface="Sukhumvit Set"/>
              </a:rPr>
              <a:t>การจัดลำดับของมันตรงกับผลรวมแบบไม่ถ่วงน้ำหนักของ marker พอดี — จึงเป็นเหตุผลว่าทำไม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A"/>
                </a:solidFill>
                <a:latin typeface="Sukhumvit Set"/>
              </a:rPr>
              <a:t>การบวก z-score ของค่าตั้งต้นแบบใส่เครื่องหมาย ให้คะแนนตรงกันถึงทศนิยม 3 ตำแหน่ง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A"/>
                </a:solidFill>
                <a:latin typeface="Sukhumvit Set"/>
              </a:rPr>
              <a:t>“monotonic constraint” ทุกตัวที่รายงานไว้จึงไม่มีความหมาย เพราะสัมประสิทธิ์แทบไม่ขยับจากศูนย์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Sukhumvit Set"/>
              </a:rPr>
              <a:t>สิ่งที่แก้ไข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Sukhumvit Set"/>
              </a:rPr>
              <a:t>สิ่งที่นำมาใช้แทน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83080"/>
          <a:ext cx="10820094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5680"/>
                <a:gridCol w="4083054"/>
                <a:gridCol w="4491360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66666"/>
                          </a:solidFill>
                          <a:latin typeface="Sukhumvit Set"/>
                        </a:rPr>
                        <a:t/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66666"/>
                          </a:solidFill>
                          <a:latin typeface="Sukhumvit Set"/>
                        </a:rPr>
                        <a:t>แบบเดิม (ถอนแล้ว)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66666"/>
                          </a:solidFill>
                          <a:latin typeface="Sukhumvit Set"/>
                        </a:rPr>
                        <a:t>แบบปัจจุบัน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ukhumvit Set"/>
                        </a:rPr>
                        <a:t>Outcome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ukhumvit Set"/>
                        </a:rPr>
                        <a:t>marker ≥9/11 ตัวเปลี่ยนไปตาม
ทิศทางในวรรณกรรม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ukhumvit Set"/>
                        </a:rPr>
                        <a:t>≥6/11 ดีขึ้นมากกว่าที่ค่าตั้งต้น
ของตัวเองทำนายไว้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ukhumvit Set"/>
                        </a:rPr>
                        <a:t>Residualization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ukhumvit Set"/>
                        </a:rPr>
                        <a:t>ไม่มี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ukhumvit Set"/>
                        </a:rPr>
                        <a:t>regress ค่าผลต่างบนค่าตั้งต้น
fit ภายในแต่ละ fold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ukhumvit Set"/>
                        </a:rPr>
                        <a:t>Prevalence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ukhumvit Set"/>
                        </a:rPr>
                        <a:t>0.437 (31/71)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ukhumvit Set"/>
                        </a:rPr>
                        <a:t>0.437 (31/71) — ตรึงให้เท่าเดิม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ukhumvit Set"/>
                        </a:rPr>
                        <a:t>ตัวแก้สมการ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ukhumvit Set"/>
                        </a:rPr>
                        <a:t>projected gradient, ไม่ลู่เข้า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ukhumvit Set"/>
                        </a:rPr>
                        <a:t>L-BFGS-B box constraints, 100%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ukhumvit Set"/>
                        </a:rPr>
                        <a:t>Feature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ukhumvit Set"/>
                        </a:rPr>
                        <a:t>21 ตัว รวม artifact 3 ตัว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ukhumvit Set"/>
                        </a:rPr>
                        <a:t>18 ตัว กัน artifact ออก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ukhumvit Set"/>
                        </a:rPr>
                        <a:t>การประเมิน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ukhumvit Set"/>
                        </a:rPr>
                        <a:t>แบ่ง 5-fold ครั้งเดียว seed 42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ukhumvit Set"/>
                        </a:rPr>
                        <a:t>ทำซ้ำ 20 รอบ × 5-fold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ukhumvit Set"/>
                        </a:rPr>
                        <a:t>ตัวควบคุม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ukhumvit Set"/>
                        </a:rPr>
                        <a:t>ไม่มี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ukhumvit Set"/>
                        </a:rPr>
                        <a:t>3 ตัวควบคุม + ช่วงความเชื่อมั่น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257800"/>
            <a:ext cx="108200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66666"/>
                </a:solidFill>
                <a:latin typeface="Sukhumvit Set"/>
              </a:rPr>
              <a:t>เกณฑ์เปลี่ยนจาก 9 เป็น 6 เพราะการทำ residualization ทำให้อัตราการ “ดีขึ้น” ต่อ marker ลดลงราวครึ่งหนึ่งโดยธรรมชาติ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66666"/>
                </a:solidFill>
                <a:latin typeface="Sukhumvit Set"/>
              </a:rPr>
              <a:t>ค่านี้ถูกกำหนดไว้ก่อนเริ่ม fit โมเดลใด ๆ โดยเลือกค่าที่ทำให้ prevalence เท่ากับของเดิมพอดี เพื่อให้ตัวเลข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66666"/>
                </a:solidFill>
                <a:latin typeface="Sukhumvit Set"/>
              </a:rPr>
              <a:t>ที่แก้ไขแล้วเทียบกันได้ตรง ๆ ไม่ถูกรบกวนจากการที่สัดส่วนผู้ป่วยเปลี่ยนไป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Sukhumvit Set"/>
              </a:rPr>
              <a:t>ผลที่แท้จริง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Sukhumvit Set"/>
              </a:rPr>
              <a:t>ผลลัพธ์ที่แก้ไขแล้ว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1A1A1A"/>
                </a:solidFill>
                <a:latin typeface="Sukhumvit Set"/>
              </a:rPr>
              <a:t>0.483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9631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Sukhumvit Set"/>
              </a:rPr>
              <a:t>PR-AUC ของโมเดล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Sukhumvit Set"/>
              </a:rPr>
              <a:t>(20 รอบ × 5-fold)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2498" y="178308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1F6F8B"/>
                </a:solidFill>
                <a:latin typeface="Sukhumvit Set"/>
              </a:rPr>
              <a:t>0.522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2498" y="249631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Sukhumvit Set"/>
              </a:rPr>
              <a:t>ตัวให้คะแนนแบบไม่เรียนรู้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Sukhumvit Set"/>
              </a:rPr>
              <a:t>— สูงกว่าโมเดล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99196" y="178308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666666"/>
                </a:solidFill>
                <a:latin typeface="Sukhumvit Set"/>
              </a:rPr>
              <a:t>0.894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99196" y="249631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Sukhumvit Set"/>
              </a:rPr>
              <a:t>ค่า p จาก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Sukhumvit Set"/>
              </a:rPr>
              <a:t>permutation</a:t>
            </a:r>
          </a:p>
        </p:txBody>
      </p:sp>
      <p:pic>
        <p:nvPicPr>
          <p:cNvPr id="11" name="Picture 10" descr="pr_auc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119" y="3429000"/>
            <a:ext cx="5493456" cy="26060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6172200"/>
            <a:ext cx="10820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B2182B"/>
                </a:solidFill>
                <a:latin typeface="Sukhumvit Set"/>
              </a:rPr>
              <a:t>ไม่มีหลักฐานว่าพยากรณ์ได้เกินกว่าปรากฏการณ์ regression to the mean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Sukhumvit Set"/>
              </a:rPr>
              <a:t>ผลที่แท้จริง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Sukhumvit Set"/>
              </a:rPr>
              <a:t>ตัวควบคุมอิสระ 3 ตัวให้ผลตรงกัน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02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B2182B"/>
                </a:solidFill>
                <a:latin typeface="Sukhumvit Se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938528"/>
            <a:ext cx="101800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A1A1A"/>
                </a:solidFill>
                <a:latin typeface="Sukhumvit Set"/>
              </a:rPr>
              <a:t>lift 1.11 เท่าที่วัดได้ อยู่ “ภายใน” การแจกแจงของ null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331720"/>
            <a:ext cx="101800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Sukhumvit Set"/>
              </a:rPr>
              <a:t>null มีมัธยฐาน 1.04 เท่า เปอร์เซ็นไทล์ที่ 95 อยู่ที่ 1.24 เท่า — จึงยังผ่านไม่ได้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632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B2182B"/>
                </a:solidFill>
                <a:latin typeface="Sukhumvit Se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081528"/>
            <a:ext cx="101800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A1A1A"/>
                </a:solidFill>
                <a:latin typeface="Sukhumvit Set"/>
              </a:rPr>
              <a:t>โมเดลที่เทรนแล้ว แย่กว่าตัวให้คะแนนที่ไม่เรียนรู้อะไรเลย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474720"/>
            <a:ext cx="101800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Sukhumvit Set"/>
              </a:rPr>
              <a:t>ส่วนต่าง −0.039, 95% CI [−0.058, −0.023] — ช่วงความเชื่อมั่นไม่คร่อมศูนย์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062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B2182B"/>
                </a:solidFill>
                <a:latin typeface="Sukhumvit Se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224528"/>
            <a:ext cx="101800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A1A1A"/>
                </a:solidFill>
                <a:latin typeface="Sukhumvit Set"/>
              </a:rPr>
              <a:t>ค่า p จาก permutation = 0.894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4617720"/>
            <a:ext cx="101800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Sukhumvit Set"/>
              </a:rPr>
              <a:t>เมื่อใช้ outcome ที่แก้ไขแล้ว การจัดลำดับแยกไม่ออกจากการสุ่ม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5577840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76072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666666"/>
                </a:solidFill>
                <a:latin typeface="Sukhumvit Set"/>
              </a:rPr>
              <a:t>ข้อจำกัดจากวรรณกรรม 8 จาก 11 ตัวถูกบังคับจนชนขอบ — ค่าสัมประสิทธิ์ถูกตรึงที่ 0.0 พอดี เพราะข้อมูลชุดนี้ดึงไปคนละทาง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666666"/>
                </a:solidFill>
                <a:latin typeface="Sukhumvit Set"/>
              </a:rPr>
              <a:t>ทิศทางที่ใช้บอก “สถานะโรคอ้วน” ส่วนใหญ่ไม่ถ่ายโอนมาสู่การพยากรณ์ “การเปลี่ยนแปลง” ใน 12 เดือน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Sukhumvit Set"/>
              </a:rPr>
              <a:t>อีกการทดลองหนึ่ง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Sukhumvit Set"/>
              </a:rPr>
              <a:t>การพยากรณ์แบบต่อเนื่อง ใช้มาตรฐานเดียวกัน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ntinuous_forecast_m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8342" y="1828800"/>
            <a:ext cx="7155010" cy="3383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440680"/>
            <a:ext cx="108200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1A1A1A"/>
                </a:solidFill>
                <a:latin typeface="Sukhumvit Set"/>
              </a:rPr>
              <a:t>การพยากรณ์โปรไฟล์ที่ 12 เดือน ดีกว่าการทายค่าเฉลี่ยของ training fold อยู่ 0.0078 MAE — แต่ช่วงความเชื่อมั่น 95%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1A1A1A"/>
                </a:solidFill>
                <a:latin typeface="Sukhumvit Set"/>
              </a:rPr>
              <a:t>คร่อมศูนย์ จึงแยกไม่ออกจาก noise ที่ n=71 อย่างไรก็ตามมันชนะ persistence baseline อย่างชัดเจน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1A1A1A"/>
                </a:solidFill>
                <a:latin typeface="Sukhumvit Set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1A1A1A"/>
                </a:solidFill>
                <a:latin typeface="Sukhumvit Set"/>
              </a:rPr>
              <a:t>ค่า R² รวมที่ 0.931 ไม่ใช่ตัวชี้วัดประสิทธิภาพ เพราะเกิดจากความต่างของสเกลระหว่างเมตาโบไลต์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1A1A1A"/>
                </a:solidFill>
                <a:latin typeface="Sukhumvit Set"/>
              </a:rPr>
              <a:t>ค่ามัธยฐาน R² รายเมตาโบไลต์อยู่ที่ -0.013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Sukhumvit Set"/>
              </a:rPr>
              <a:t>สิ่งที่นำไปใช้ต่อได้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Sukhumvit Set"/>
              </a:rPr>
              <a:t>ตัวควบคุมที่นำไปใช้ซ้ำได้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F6F8B"/>
                </a:solidFill>
                <a:latin typeface="Sukhumvit Set"/>
              </a:rPr>
              <a:t>ตัวให้คะแนนแบบไม่เรียนรู้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86200" y="1828800"/>
            <a:ext cx="7619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A1A1A"/>
                </a:solidFill>
                <a:latin typeface="Sukhumvit Set"/>
              </a:rPr>
              <a:t>ผลรวมของ z-score ค่าตั้งต้นแบบใส่เครื่องหมาย ใช้จับโมเดลที่ยังไม่ลู่เข้า หรือที่ไม่ได้เรียนรู้อะไรเกินกว่าที่ input บอกอยู่แล้ว โมเดลทุกตัวต้องรายงานคู่กับค่านี้เสมอ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8346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F6F8B"/>
                </a:solidFill>
                <a:latin typeface="Sukhumvit Set"/>
              </a:rPr>
              <a:t>null แบบทำลายการจับคู่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6200" y="2834640"/>
            <a:ext cx="7619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A1A1A"/>
                </a:solidFill>
                <a:latin typeface="Sukhumvit Set"/>
              </a:rPr>
              <a:t>สลับว่าอนาคตของใครเป็นของผู้ป่วยคนไหน แล้วสร้าง outcome ขึ้นใหม่ ใช้จับ outcome ที่ถูกสร้างขึ้นมาจาก feature เอง ตัวนี้คือตัวที่ชี้ขาด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8404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F6F8B"/>
                </a:solidFill>
                <a:latin typeface="Sukhumvit Set"/>
              </a:rPr>
              <a:t>การทดสอบ label-permutation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86200" y="3840480"/>
            <a:ext cx="7619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A1A1A"/>
                </a:solidFill>
                <a:latin typeface="Sukhumvit Set"/>
              </a:rPr>
              <a:t>จำเป็น แต่พิสูจน์แล้วว่าไม่เพียงพอ — ให้ค่า p = 0.002 กับการตั้งโจทย์ที่ผิด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463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F6F8B"/>
                </a:solidFill>
                <a:latin typeface="Sukhumvit Set"/>
              </a:rPr>
              <a:t>ช่วงความเชื่อมั่นแบบ paired bootstrap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4846320"/>
            <a:ext cx="7619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A1A1A"/>
                </a:solidFill>
                <a:latin typeface="Sukhumvit Set"/>
              </a:rPr>
              <a:t>ใช้กับทุกส่วนต่างระหว่างโมเดลกับ baseline โดยสุ่มผู้ป่วยพร้อมกันเป็นคู่ ส่วนต่าง 2.4% ที่ไม่มีช่วงความเชื่อมั่นกำกับ ยังไม่นับเป็นผลลัพธ์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5943600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126480"/>
            <a:ext cx="10820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A1A1A"/>
                </a:solidFill>
                <a:latin typeface="Sukhumvit Set"/>
              </a:rPr>
              <a:t>ควรใช้ null แบบทำลายการจับคู่ กับงานวิเคราะห์ข้อมูลระยะยาวทุกชิ้นที่ outcome เป็นค่าผลต่าง และค่าตั้งต้นก็เป็น feature ด้วย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Sukhumvit Set"/>
              </a:rPr>
              <a:t>ขอบเขตที่ซื่อตรง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Sukhumvit Set"/>
              </a:rPr>
              <a:t>สิ่งที่ผลนี้ “ไม่ได้” บอก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0240"/>
            <a:ext cx="108200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1A1A1A"/>
                </a:solidFill>
                <a:latin typeface="Sukhumvit Set"/>
              </a:rPr>
              <a:t>ไม่ได้บอกว่า NMR ก่อนผ่าตัดพยากรณ์การตอบสนองทางเมตาบอลิซึมไม่ได้</a:t>
            </a:r>
          </a:p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1A1A1A"/>
                </a:solidFill>
                <a:latin typeface="Sukhumvit Set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1A1A1A"/>
                </a:solidFill>
                <a:latin typeface="Sukhumvit Set"/>
              </a:rPr>
              <a:t>แต่บอกว่า cohort นี้ ที่ n=71 ด้วย outcome แบบนี้ ยังพิสูจน์ไม่ได้ว่าทำได้</a:t>
            </a:r>
          </a:p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1A1A1A"/>
                </a:solidFill>
                <a:latin typeface="Sukhumvit Set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1A1A1A"/>
                </a:solidFill>
                <a:latin typeface="Sukhumvit Set"/>
              </a:rPr>
              <a:t>cohort ที่มี clinical outcome เชื่อมโยงระดับผู้ป่วย — น้ำหนักที่ลด การหายจากโรค ชนิดการรักษา —</a:t>
            </a:r>
          </a:p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1A1A1A"/>
                </a:solidFill>
                <a:latin typeface="Sukhumvit Set"/>
              </a:rPr>
              <a:t>และมีจำนวนผู้ป่วยมากพอที่จะวัด effect ขนาดเล็ก ก็ยังมีโอกาสพบได้ แต่ข้อมูลสาธารณะของ MTBLS242 ไม่มีสิ่งเหล่านี้เลย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4892040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074920"/>
            <a:ext cx="108200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66666"/>
                </a:solidFill>
                <a:latin typeface="Sukhumvit Set"/>
              </a:rPr>
              <a:t>ประเด็นที่ยังค้างอยู่: (R)-3-Hydroxybutyric acid มีค่าศูนย์ถึง 45% — เป็นค่าที่ต่ำกว่าขีดจำกัดการตรวจวัด ซึ่ง log1p แปลงเป็น 0 พอดี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66666"/>
                </a:solidFill>
                <a:latin typeface="Sukhumvit Set"/>
              </a:rPr>
              <a:t>กลุ่มตัวอย่างเป็นผู้ป่วยผ่าตัดลดน้ำหนักเท่านั้น จึงไม่บอกอะไรเกี่ยวกับประชากรทั่วไปหรือผลลัพธ์เมื่อไม่ผ่าตัด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66666"/>
                </a:solidFill>
                <a:latin typeface="Sukhumvit Set"/>
              </a:rPr>
              <a:t>และโปรไฟล์เมตาโบไลต์ไม่เท่ากับ clinical outcome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