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9202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66666"/>
                </a:solidFill>
                <a:latin typeface="Helvetica Neue"/>
              </a:rPr>
              <a:t>MTBLS242 · 12-MONTH METABOLIC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1A1A1A"/>
                </a:solidFill>
                <a:latin typeface="Helvetica Neue"/>
              </a:rPr>
              <a:t>What the controls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3192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Helvetica Neue"/>
              </a:rPr>
              <a:t>A reported PR-AUC of 0.671 turned out to be regression to the mean.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Helvetica Neue"/>
              </a:rPr>
              <a:t>This is how it was caught, and what the corrected analysis says.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1A1A"/>
                </a:solidFill>
                <a:latin typeface="Helvetica Neue"/>
              </a:rPr>
              <a:t>Can a pre-operative serum ¹H-NMR profile forecast what happens to a</a:t>
            </a:r>
          </a:p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1A1A"/>
                </a:solidFill>
                <a:latin typeface="Helvetica Neue"/>
              </a:rPr>
              <a:t>bariatric surgery patient 12 months later?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subjects with paired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preop + 12-month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quantified metabolites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(serum ¹H-NMR)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32004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9136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labelled strong responders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(43.7% prevalence)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Helvetica Neue"/>
              </a:rPr>
              <a:t>MetaboLights MTBLS242. Sample IDs encode a stable subject code, which is what makes a genuine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Helvetica Neue"/>
              </a:rPr>
              <a:t>longitudinal pairing possible. No clinical outcome exists in the public metadata — no weight loss, no remission.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result that was reported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held-out PR-AUC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Helvetica Neue"/>
              </a:rPr>
              <a:t>0.437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prevalence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210312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1.54×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81635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reported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48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Helvetica Neue"/>
              </a:rPr>
              <a:t>Read as: pre-operative NMR carries signal about who will respond.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1A1A"/>
                </a:solidFill>
                <a:latin typeface="Helvetica Neue"/>
              </a:rPr>
              <a:t>It does not. Four things were wrong, and three of them are invisible to the checks people normally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WHY IT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1 — the outcome was built from the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A responder was defined as “≥9 of 11 markers moved in the healthy direction”, measured as 12-month minus pre-operative —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on the same 11 metabolites the model was given as inputs.</a:t>
            </a:r>
          </a:p>
        </p:txBody>
      </p:sp>
      <p:pic>
        <p:nvPicPr>
          <p:cNvPr id="6" name="Picture 5" descr="regression_to_the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774" y="2514600"/>
            <a:ext cx="695214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An extreme baseline falls back toward the mean whether or not anything biological happened. The model was graded on something it was handed.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WHY IT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2 — it scored below its own no-signal null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Shuffle which 12-month profile belongs to which subject, then rebuild the outcome from scratch.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No forecastable signal can survive that — every real subject-level relationship is destroyed.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1.57×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observed lift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2.04×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null median lift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31089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2.51×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8221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null 95th percentile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B2182B"/>
                </a:solidFill>
                <a:latin typeface="Helvetica Neue"/>
              </a:rPr>
              <a:t>The real data scored below the middle of a distribution in which</a:t>
            </a:r>
          </a:p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B2182B"/>
                </a:solidFill>
                <a:latin typeface="Helvetica Neue"/>
              </a:rPr>
              <a:t>no forecastable signal can exist.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METHODOLOGICAL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3 — a permutation test would have waved it 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66666"/>
                </a:solidFill>
                <a:latin typeface="Helvetica Neue"/>
              </a:rPr>
              <a:t>On the retired outcome, the standard label-permutation test returns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B2182B"/>
                </a:solidFill>
                <a:latin typeface="Helvetica Neue"/>
              </a:rPr>
              <a:t>p = 0.002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10820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It is not malfunctioning. The baseline genuinely does rank those labels better than chance.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But it holds the outcome fixed, so it cannot see that the outcome was manufactured from the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features in the first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A1A"/>
                </a:solidFill>
                <a:latin typeface="Helvetica Neue"/>
              </a:rPr>
              <a:t>A permutation test cannot validate a change-score outcome when the baseline is also a feature.</a:t>
            </a:r>
          </a:p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A1A1A"/>
                </a:solidFill>
                <a:latin typeface="Helvetica Neue"/>
              </a:rPr>
              <a:t>Only destroying the pairing 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WHY IT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Defect 4 — the model had never converged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0.018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largest standardized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coefficient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0.653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PR-AUC of the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“trained”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20116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0.653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7249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PR-AUC of a scorer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that fits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3192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Fixed-step projected gradient descent, capped at 6000 iterations, against a penalty that was not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scaled to sample size. It stopped as a near-constant model.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Its ranking coincided exactly with an unweighted sum of the markers — which is why summing signed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baseline z-scores reproduces its score to three decimals. Every “monotonic constraint” it reported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was vacuous: the coefficients had barely left zero.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What replaced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820094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5680"/>
                <a:gridCol w="4083054"/>
                <a:gridCol w="449136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Helvetica Neue"/>
                        </a:rPr>
                        <a:t>Retired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66666"/>
                          </a:solidFill>
                          <a:latin typeface="Helvetica Neue"/>
                        </a:rPr>
                        <a:t>Current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≥9/11 markers move in the
literature direction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≥6/11 improve MORE than their
own baseline predicts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Residualization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change regressed on baseline,
fitted inside each fold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Prevalence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0.437 (31/71)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0.437 (31/71) — held constant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Solver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projected gradient, unconverged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L-BFGS-B box constraints, 100%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Features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21, incl. 3 exogenous artifacts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18, artifacts quarantined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Evaluation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one 5-fold draw, seed 42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20 repeats × 5-fold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Controls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Helvetica Neue"/>
                        </a:rPr>
                        <a:t>3 controls + bootstrap intervals</a:t>
                      </a:r>
                    </a:p>
                  </a:txBody>
                  <a:tcPr marL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57800"/>
            <a:ext cx="108200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The threshold moved from 9 to 6 because residualization halves the per-marker improvement rate by construction.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It was fixed before any model was fitted, as the value that reproduces the original prevalence exactly — so the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corrected number stays directly comparable rather than confounded by a shift in base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WHAT IT ACTUALLY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corrected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0.483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model PR-AUC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(20 × 5-fold)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2498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0.522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no-learning scorer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— beats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9196" y="178308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Helvetica Neue"/>
              </a:rPr>
              <a:t>0.894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49631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permutation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p-value</a:t>
            </a:r>
          </a:p>
        </p:txBody>
      </p:sp>
      <p:pic>
        <p:nvPicPr>
          <p:cNvPr id="11" name="Picture 10" descr="pr_au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19" y="3429000"/>
            <a:ext cx="5493456" cy="2606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617220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B2182B"/>
                </a:solidFill>
                <a:latin typeface="Helvetica Neue"/>
              </a:rPr>
              <a:t>No evidence of forecasting skill beyond regression to the mean.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WHAT IT ACTUALLY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Three independent controls agree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38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Observed lift 1.11× sits INSIDE the no-signal 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331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null median 1.04×, 95th percentile 1.24× — it does not clear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Helvetica Neue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081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The trained model is WORSE than a scorer that fits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74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gap −0.039, 95% CI [−0.058, −0.023] — the interval excludes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06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2182B"/>
                </a:solidFill>
                <a:latin typeface="Helvetica Neue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24528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Permutation p = 0.894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617720"/>
            <a:ext cx="10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against the corrected outcome, the ranking is indistinguishable from chance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57784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76072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8 of 11 literature constraints are binding — pinned at exactly 0.0 because this cohort pulls the other way.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Helvetica Neue"/>
              </a:rPr>
              <a:t>Obesity-status directions largely do not transfer to forecasting 12-month change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THE OTHER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continuous forecast, same treatment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tinuous_forecast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8342" y="1828800"/>
            <a:ext cx="715501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440680"/>
            <a:ext cx="10820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Forecasting the 12-month profile beats predicting the training-fold mean by 0.0078 MAE — but the 95% interval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spans zero, so it is not distinguishable from noise at n=71. It does clearly beat persistence.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The pooled R² of 0.931 is not performance: it is driven by scale differences between metabolites. Median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A1A1A"/>
                </a:solidFill>
                <a:latin typeface="Helvetica Neue"/>
              </a:rPr>
              <a:t>per-metabolite R² is -0.013.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USING EVERY TIME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Using the whole trajectory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The pairwise experiments use 142 of 465 samples — 3, 6 and 9 months were discarded entirely.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Using them gives roughly five times more training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803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346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935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consecutive transitions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(vs 71 pairs)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8803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465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5935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samples used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(vs 142)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88036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A1A1A"/>
                </a:solidFill>
                <a:latin typeface="Helvetica Neue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59359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subjects with a complete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5-point trajectory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46320"/>
            <a:ext cx="108200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Helvetica Neue"/>
              </a:rPr>
              <a:t>Subject-grouped 5-fold CV — one subject contributes up to four transitions, so splitting rows at random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Helvetica Neue"/>
              </a:rPr>
              <a:t>would put the same person in train and test. Persistence, not the cohort mean, is the baseline that matters over a three-month gap.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USING EVERY TIME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Five times the data, same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utoregres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699" y="1691640"/>
            <a:ext cx="6358296" cy="2880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8006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B2182B"/>
                </a:solidFill>
                <a:latin typeface="Helvetica Neue"/>
              </a:rPr>
              <a:t>Knowing a subject's own profile at time t does not beat simply knowing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B2182B"/>
                </a:solidFill>
                <a:latin typeface="Helvetica Neue"/>
              </a:rPr>
              <a:t>what the cohort looks like at time t+1.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Helvetica Neue"/>
              </a:rPr>
              <a:t>6→9 months is the one window where the individual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52744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the only transition where the model beats BOTH persistence and the mean — n=90, one window of four, uncorrected for multiplicity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USING EVERY TIME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Iterated vs direct — walking the trajectory loses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Rolling the one-step model forward four times (preop→3→6→9→12) and scoring at 12 months,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Helvetica Neue"/>
              </a:rPr>
              <a:t>against the direct preop→12mo ridge, on the same 60 complete subjects.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66666"/>
                </a:solidFill>
                <a:latin typeface="Helvetica Neue"/>
              </a:rPr>
              <a:t>0.415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persistence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2498" y="27432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B2182B"/>
                </a:solidFill>
                <a:latin typeface="Helvetica Neue"/>
              </a:rPr>
              <a:t>0.320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2498" y="34564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iterated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preop→3→6→9→12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9196" y="2743200"/>
            <a:ext cx="36066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1F6F8B"/>
                </a:solidFill>
                <a:latin typeface="Helvetica Neue"/>
              </a:rPr>
              <a:t>0.299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9196" y="3456432"/>
            <a:ext cx="36066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direct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Helvetica Neue"/>
              </a:rPr>
              <a:t>preop→12mo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8056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Iterated − direct = +0.021 (95% CI +0.004 to +0.037) — the interval excludes zero.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Error compounds across four steps, and each step's shrinkage pulls the forecast further toward the mean.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If you want the 12-month profile, forecast it directly.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The controls, reusable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No-learning scorer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82880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Sum of signed, z-scored baseline markers. Catches a model that has not converged or has learned nothing its inputs did not already say. Every trained model is reported next to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Pairing-destroyed null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83464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Shuffle which future belongs to which subject, then rebuild the outcome from scratch. Catches an outcome manufactured from the features. This is the one that mattered.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Label-permutation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84048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Necessary, and demonstrably not sufficient — it returned p = 0.002 on the broken setup.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6F8B"/>
                </a:solidFill>
                <a:latin typeface="Helvetica Neue"/>
              </a:rPr>
              <a:t>Paired bootstrap intervals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48463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Helvetica Neue"/>
              </a:rPr>
              <a:t>On every model-versus-baseline gap, resampling subjects together. A 2.4% edge without an interval is not a result.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94360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Helvetica Neue"/>
              </a:rPr>
              <a:t>Reach for the pairing-destroyed null in any longitudinal change-score analysis where baseline is also a feature.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Helvetica Neue"/>
              </a:rP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Helvetica Neue"/>
              </a:rPr>
              <a:t>What this does not say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8200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It does not say pre-operative NMR cannot forecast metabolic response.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It says this cohort, at n=71, with this outcome, does not demonstrate that it does.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A cohort with linked clinical outcomes — weight loss, remission, treatment type — and enough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A1A1A"/>
                </a:solidFill>
                <a:latin typeface="Helvetica Neue"/>
              </a:rPr>
              <a:t>subjects to estimate a small effect could still find one. MTBLS242's public metadata has none.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10820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074920"/>
            <a:ext cx="10820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Also unresolved: (R)-3-Hydroxybutyric acid is 45% zeros — below-detection readings that log1p maps to exactly 0.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Bariatric patients only, so nothing about the general population or about outcomes without surgery.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66666"/>
                </a:solidFill>
                <a:latin typeface="Helvetica Neue"/>
              </a:rPr>
              <a:t>A metabolite profile is not a clinical outcome.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