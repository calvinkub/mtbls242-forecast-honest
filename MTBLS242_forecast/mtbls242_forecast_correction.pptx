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920240"/>
            <a:ext cx="10820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66666"/>
                </a:solidFill>
                <a:latin typeface="Helvetica Neue"/>
              </a:rPr>
              <a:t>MTBLS242 · 12-MONTH METABOLIC FORECAST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200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1A1A1A"/>
                </a:solidFill>
                <a:latin typeface="Helvetica Neue"/>
              </a:rPr>
              <a:t>What the controls found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3931920"/>
            <a:ext cx="10820095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206240"/>
            <a:ext cx="108200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666666"/>
                </a:solidFill>
                <a:latin typeface="Helvetica Neue"/>
              </a:rPr>
              <a:t>A reported PR-AUC of 0.671 turned out to be regression to the mean.</a:t>
            </a:r>
          </a:p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666666"/>
                </a:solidFill>
                <a:latin typeface="Helvetica Neue"/>
              </a:rPr>
              <a:t>This is how it was caught, and what the corrected analysis says.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66666"/>
                </a:solidFill>
                <a:latin typeface="Helvetica Neue"/>
              </a:rPr>
              <a:t>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A1A"/>
                </a:solidFill>
                <a:latin typeface="Helvetica Neue"/>
              </a:rPr>
              <a:t>The question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81328"/>
            <a:ext cx="10820095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1A1A1A"/>
                </a:solidFill>
                <a:latin typeface="Helvetica Neue"/>
              </a:rPr>
              <a:t>Can a pre-operative serum ¹H-NMR profile forecast what happens to a</a:t>
            </a:r>
          </a:p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1A1A1A"/>
                </a:solidFill>
                <a:latin typeface="Helvetica Neue"/>
              </a:rPr>
              <a:t>bariatric surgery patient 12 months later?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200400"/>
            <a:ext cx="360669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1A1A1A"/>
                </a:solidFill>
                <a:latin typeface="Helvetica Neue"/>
              </a:rPr>
              <a:t>71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913632"/>
            <a:ext cx="360669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Helvetica Neue"/>
              </a:rPr>
              <a:t>subjects with paired</a:t>
            </a:r>
          </a:p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Helvetica Neue"/>
              </a:rPr>
              <a:t>preop + 12-month samples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2498" y="3200400"/>
            <a:ext cx="360669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1A1A1A"/>
                </a:solidFill>
                <a:latin typeface="Helvetica Neue"/>
              </a:rPr>
              <a:t>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2498" y="3913632"/>
            <a:ext cx="360669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Helvetica Neue"/>
              </a:rPr>
              <a:t>quantified metabolites</a:t>
            </a:r>
          </a:p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Helvetica Neue"/>
              </a:rPr>
              <a:t>(serum ¹H-NMR)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99196" y="3200400"/>
            <a:ext cx="360669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1A1A1A"/>
                </a:solidFill>
                <a:latin typeface="Helvetica Neue"/>
              </a:rPr>
              <a:t>31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99196" y="3913632"/>
            <a:ext cx="360669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Helvetica Neue"/>
              </a:rPr>
              <a:t>labelled strong responders</a:t>
            </a:r>
          </a:p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Helvetica Neue"/>
              </a:rPr>
              <a:t>(43.7% prevalence)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39496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66666"/>
                </a:solidFill>
                <a:latin typeface="Helvetica Neue"/>
              </a:rPr>
              <a:t>MetaboLights MTBLS242. Sample IDs encode a stable subject code, which is what makes a genuine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66666"/>
                </a:solidFill>
                <a:latin typeface="Helvetica Neue"/>
              </a:rPr>
              <a:t>longitudinal pairing possible. No clinical outcome exists in the public metadata — no weight loss, no remission.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66666"/>
                </a:solidFill>
                <a:latin typeface="Helvetica Neue"/>
              </a:rPr>
              <a:t>THE CLAIM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A1A"/>
                </a:solidFill>
                <a:latin typeface="Helvetica Neue"/>
              </a:rPr>
              <a:t>The result that was reported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81328"/>
            <a:ext cx="10820095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03120"/>
            <a:ext cx="360669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B2182B"/>
                </a:solidFill>
                <a:latin typeface="Helvetica Neue"/>
              </a:rPr>
              <a:t>0.671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16352"/>
            <a:ext cx="360669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Helvetica Neue"/>
              </a:rPr>
              <a:t>held-out PR-AUC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2498" y="2103120"/>
            <a:ext cx="360669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666666"/>
                </a:solidFill>
                <a:latin typeface="Helvetica Neue"/>
              </a:rPr>
              <a:t>0.437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2498" y="2816352"/>
            <a:ext cx="360669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Helvetica Neue"/>
              </a:rPr>
              <a:t>prevalence 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99196" y="2103120"/>
            <a:ext cx="360669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B2182B"/>
                </a:solidFill>
                <a:latin typeface="Helvetica Neue"/>
              </a:rPr>
              <a:t>1.54×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99196" y="2816352"/>
            <a:ext cx="360669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Helvetica Neue"/>
              </a:rPr>
              <a:t>reported lift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840480"/>
            <a:ext cx="108200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1A1A1A"/>
                </a:solidFill>
                <a:latin typeface="Helvetica Neue"/>
              </a:rPr>
              <a:t>Read as: pre-operative NMR carries signal about who will respond.</a:t>
            </a:r>
          </a:p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1A1A1A"/>
                </a:solidFill>
                <a:latin typeface="Helvetica Neue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1A1A1A"/>
                </a:solidFill>
                <a:latin typeface="Helvetica Neue"/>
              </a:rPr>
              <a:t>It does not. Four things were wrong, and three of them are invisible to the checks people normally run.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66666"/>
                </a:solidFill>
                <a:latin typeface="Helvetica Neue"/>
              </a:rPr>
              <a:t>WHY IT WAS WRONG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A1A"/>
                </a:solidFill>
                <a:latin typeface="Helvetica Neue"/>
              </a:rPr>
              <a:t>Defect 1 — the outcome was built from the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81328"/>
            <a:ext cx="10820095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66666"/>
                </a:solidFill>
                <a:latin typeface="Helvetica Neue"/>
              </a:rPr>
              <a:t>A responder was defined as “≥9 of 11 markers moved in the healthy direction”, measured as 12-month minus pre-operative —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66666"/>
                </a:solidFill>
                <a:latin typeface="Helvetica Neue"/>
              </a:rPr>
              <a:t>on the same 11 metabolites the model was given as inputs.</a:t>
            </a:r>
          </a:p>
        </p:txBody>
      </p:sp>
      <p:pic>
        <p:nvPicPr>
          <p:cNvPr id="6" name="Picture 5" descr="regression_to_the_m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9774" y="2514600"/>
            <a:ext cx="6952147" cy="3246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5989320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A1A1A"/>
                </a:solidFill>
                <a:latin typeface="Helvetica Neue"/>
              </a:rPr>
              <a:t>An extreme baseline falls back toward the mean whether or not anything biological happened. The model was graded on something it was handed.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66666"/>
                </a:solidFill>
                <a:latin typeface="Helvetica Neue"/>
              </a:rPr>
              <a:t>WHY IT WAS WRONG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A1A"/>
                </a:solidFill>
                <a:latin typeface="Helvetica Neue"/>
              </a:rPr>
              <a:t>Defect 2 — it scored below its own no-signal null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81328"/>
            <a:ext cx="10820095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A1A1A"/>
                </a:solidFill>
                <a:latin typeface="Helvetica Neue"/>
              </a:rPr>
              <a:t>Shuffle which 12-month profile belongs to which subject, then rebuild the outcome from scratch.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A1A1A"/>
                </a:solidFill>
                <a:latin typeface="Helvetica Neue"/>
              </a:rPr>
              <a:t>No forecastable signal can survive that — every real subject-level relationship is destroyed.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108960"/>
            <a:ext cx="360669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B2182B"/>
                </a:solidFill>
                <a:latin typeface="Helvetica Neue"/>
              </a:rPr>
              <a:t>1.57×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822192"/>
            <a:ext cx="360669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Helvetica Neue"/>
              </a:rPr>
              <a:t>observed lift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2498" y="3108960"/>
            <a:ext cx="360669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1F6F8B"/>
                </a:solidFill>
                <a:latin typeface="Helvetica Neue"/>
              </a:rPr>
              <a:t>2.04×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2498" y="3822192"/>
            <a:ext cx="360669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Helvetica Neue"/>
              </a:rPr>
              <a:t>null median lift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99196" y="3108960"/>
            <a:ext cx="360669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1F6F8B"/>
                </a:solidFill>
                <a:latin typeface="Helvetica Neue"/>
              </a:rPr>
              <a:t>2.51×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99196" y="3822192"/>
            <a:ext cx="360669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Helvetica Neue"/>
              </a:rPr>
              <a:t>null 95th percentile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029200"/>
            <a:ext cx="108200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B2182B"/>
                </a:solidFill>
                <a:latin typeface="Helvetica Neue"/>
              </a:rPr>
              <a:t>The real data scored below the middle of a distribution in which</a:t>
            </a:r>
          </a:p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B2182B"/>
                </a:solidFill>
                <a:latin typeface="Helvetica Neue"/>
              </a:rPr>
              <a:t>no forecastable signal can exist.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66666"/>
                </a:solidFill>
                <a:latin typeface="Helvetica Neue"/>
              </a:rPr>
              <a:t>THE METHODOLOGICAL 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A1A"/>
                </a:solidFill>
                <a:latin typeface="Helvetica Neue"/>
              </a:rPr>
              <a:t>Defect 3 — a permutation test would have waved it through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81328"/>
            <a:ext cx="10820095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666666"/>
                </a:solidFill>
                <a:latin typeface="Helvetica Neue"/>
              </a:rPr>
              <a:t>On the retired outcome, the standard label-permutation test returns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37744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 i="0">
                <a:solidFill>
                  <a:srgbClr val="B2182B"/>
                </a:solidFill>
                <a:latin typeface="Helvetica Neue"/>
              </a:rPr>
              <a:t>p = 0.002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566160"/>
            <a:ext cx="108200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1A1A1A"/>
                </a:solidFill>
                <a:latin typeface="Helvetica Neue"/>
              </a:rPr>
              <a:t>It is not malfunctioning. The baseline genuinely does rank those labels better than chance.</a:t>
            </a:r>
          </a:p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1A1A1A"/>
                </a:solidFill>
                <a:latin typeface="Helvetica Neue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1A1A1A"/>
                </a:solidFill>
                <a:latin typeface="Helvetica Neue"/>
              </a:rPr>
              <a:t>But it holds the outcome fixed, so it cannot see that the outcome was manufactured from the</a:t>
            </a:r>
          </a:p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1A1A1A"/>
                </a:solidFill>
                <a:latin typeface="Helvetica Neue"/>
              </a:rPr>
              <a:t>features in the first place.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5349240"/>
            <a:ext cx="10820095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53212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1A1A1A"/>
                </a:solidFill>
                <a:latin typeface="Helvetica Neue"/>
              </a:rPr>
              <a:t>A permutation test cannot validate a change-score outcome when the baseline is also a feature.</a:t>
            </a:r>
          </a:p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1A1A1A"/>
                </a:solidFill>
                <a:latin typeface="Helvetica Neue"/>
              </a:rPr>
              <a:t>Only destroying the pairing can.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66666"/>
                </a:solidFill>
                <a:latin typeface="Helvetica Neue"/>
              </a:rPr>
              <a:t>WHY IT WAS WRONG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A1A"/>
                </a:solidFill>
                <a:latin typeface="Helvetica Neue"/>
              </a:rPr>
              <a:t>Defect 4 — the model had never converged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81328"/>
            <a:ext cx="10820095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360669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B2182B"/>
                </a:solidFill>
                <a:latin typeface="Helvetica Neue"/>
              </a:rPr>
              <a:t>0.018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724912"/>
            <a:ext cx="360669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Helvetica Neue"/>
              </a:rPr>
              <a:t>largest standardized</a:t>
            </a:r>
          </a:p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Helvetica Neue"/>
              </a:rPr>
              <a:t>coefficient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2498" y="2011680"/>
            <a:ext cx="360669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B2182B"/>
                </a:solidFill>
                <a:latin typeface="Helvetica Neue"/>
              </a:rPr>
              <a:t>0.653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2498" y="2724912"/>
            <a:ext cx="360669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Helvetica Neue"/>
              </a:rPr>
              <a:t>PR-AUC of the</a:t>
            </a:r>
          </a:p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Helvetica Neue"/>
              </a:rPr>
              <a:t>“trained”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99196" y="2011680"/>
            <a:ext cx="360669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1F6F8B"/>
                </a:solidFill>
                <a:latin typeface="Helvetica Neue"/>
              </a:rPr>
              <a:t>0.653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99196" y="2724912"/>
            <a:ext cx="360669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Helvetica Neue"/>
              </a:rPr>
              <a:t>PR-AUC of a scorer</a:t>
            </a:r>
          </a:p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Helvetica Neue"/>
              </a:rPr>
              <a:t>that fits nothing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931920"/>
            <a:ext cx="108200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A1A1A"/>
                </a:solidFill>
                <a:latin typeface="Helvetica Neue"/>
              </a:rPr>
              <a:t>Fixed-step projected gradient descent, capped at 6000 iterations, against a penalty that was not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A1A1A"/>
                </a:solidFill>
                <a:latin typeface="Helvetica Neue"/>
              </a:rPr>
              <a:t>scaled to sample size. It stopped as a near-constant model.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A1A1A"/>
                </a:solidFill>
                <a:latin typeface="Helvetica Neue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A1A1A"/>
                </a:solidFill>
                <a:latin typeface="Helvetica Neue"/>
              </a:rPr>
              <a:t>Its ranking coincided exactly with an unweighted sum of the markers — which is why summing signed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A1A1A"/>
                </a:solidFill>
                <a:latin typeface="Helvetica Neue"/>
              </a:rPr>
              <a:t>baseline z-scores reproduces its score to three decimals. Every “monotonic constraint” it reported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A1A1A"/>
                </a:solidFill>
                <a:latin typeface="Helvetica Neue"/>
              </a:rPr>
              <a:t>was vacuous: the coefficients had barely left zero.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66666"/>
                </a:solidFill>
                <a:latin typeface="Helvetica Neue"/>
              </a:rPr>
              <a:t>THE FIX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A1A"/>
                </a:solidFill>
                <a:latin typeface="Helvetica Neue"/>
              </a:rPr>
              <a:t>What replaced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81328"/>
            <a:ext cx="10820095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783080"/>
          <a:ext cx="10820094" cy="2487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5680"/>
                <a:gridCol w="4083054"/>
                <a:gridCol w="4491360"/>
              </a:tblGrid>
              <a:tr h="31089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666666"/>
                          </a:solidFill>
                          <a:latin typeface="Helvetica Neue"/>
                        </a:rPr>
                        <a:t/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666666"/>
                          </a:solidFill>
                          <a:latin typeface="Helvetica Neue"/>
                        </a:rPr>
                        <a:t>Retired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666666"/>
                          </a:solidFill>
                          <a:latin typeface="Helvetica Neue"/>
                        </a:rPr>
                        <a:t>Current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Outcome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≥9/11 markers move in the
literature direction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≥6/11 improve MORE than their
own baseline predicts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Residualization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none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change regressed on baseline,
fitted inside each fold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Prevalence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0.437 (31/71)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0.437 (31/71) — held constant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Solver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projected gradient, unconverged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L-BFGS-B box constraints, 100%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Features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21, incl. 3 exogenous artifacts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18, artifacts quarantined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Evaluation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one 5-fold draw, seed 42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20 repeats × 5-fold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Controls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none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3 controls + bootstrap intervals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5257800"/>
            <a:ext cx="108200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66666"/>
                </a:solidFill>
                <a:latin typeface="Helvetica Neue"/>
              </a:rPr>
              <a:t>The threshold moved from 9 to 6 because residualization halves the per-marker improvement rate by construction.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66666"/>
                </a:solidFill>
                <a:latin typeface="Helvetica Neue"/>
              </a:rPr>
              <a:t>It was fixed before any model was fitted, as the value that reproduces the original prevalence exactly — so the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66666"/>
                </a:solidFill>
                <a:latin typeface="Helvetica Neue"/>
              </a:rPr>
              <a:t>corrected number stays directly comparable rather than confounded by a shift in base rate.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66666"/>
                </a:solidFill>
                <a:latin typeface="Helvetica Neue"/>
              </a:rPr>
              <a:t>WHAT IT ACTUALLY SAYS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A1A"/>
                </a:solidFill>
                <a:latin typeface="Helvetica Neue"/>
              </a:rPr>
              <a:t>The corrected result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81328"/>
            <a:ext cx="10820095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360669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1A1A1A"/>
                </a:solidFill>
                <a:latin typeface="Helvetica Neue"/>
              </a:rPr>
              <a:t>0.483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496312"/>
            <a:ext cx="360669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Helvetica Neue"/>
              </a:rPr>
              <a:t>model PR-AUC</a:t>
            </a:r>
          </a:p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Helvetica Neue"/>
              </a:rPr>
              <a:t>(20 × 5-fold)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2498" y="1783080"/>
            <a:ext cx="360669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1F6F8B"/>
                </a:solidFill>
                <a:latin typeface="Helvetica Neue"/>
              </a:rPr>
              <a:t>0.522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2498" y="2496312"/>
            <a:ext cx="360669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Helvetica Neue"/>
              </a:rPr>
              <a:t>no-learning scorer</a:t>
            </a:r>
          </a:p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Helvetica Neue"/>
              </a:rPr>
              <a:t>— beats the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99196" y="1783080"/>
            <a:ext cx="360669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666666"/>
                </a:solidFill>
                <a:latin typeface="Helvetica Neue"/>
              </a:rPr>
              <a:t>0.894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99196" y="2496312"/>
            <a:ext cx="360669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Helvetica Neue"/>
              </a:rPr>
              <a:t>permutation</a:t>
            </a:r>
          </a:p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Helvetica Neue"/>
              </a:rPr>
              <a:t>p-value</a:t>
            </a:r>
          </a:p>
        </p:txBody>
      </p:sp>
      <p:pic>
        <p:nvPicPr>
          <p:cNvPr id="11" name="Picture 10" descr="pr_auc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119" y="3429000"/>
            <a:ext cx="5493456" cy="26060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5800" y="6172200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B2182B"/>
                </a:solidFill>
                <a:latin typeface="Helvetica Neue"/>
              </a:rPr>
              <a:t>No evidence of forecasting skill beyond regression to the mean.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66666"/>
                </a:solidFill>
                <a:latin typeface="Helvetica Neue"/>
              </a:rPr>
              <a:t>WHAT IT ACTUALLY SAYS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A1A"/>
                </a:solidFill>
                <a:latin typeface="Helvetica Neue"/>
              </a:rPr>
              <a:t>Three independent controls agree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81328"/>
            <a:ext cx="10820095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B2182B"/>
                </a:solidFill>
                <a:latin typeface="Helvetica Neue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938528"/>
            <a:ext cx="101800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A1A1A"/>
                </a:solidFill>
                <a:latin typeface="Helvetica Neue"/>
              </a:rPr>
              <a:t>Observed lift 1.11× sits INSIDE the no-signal null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331720"/>
            <a:ext cx="101800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Helvetica Neue"/>
              </a:rPr>
              <a:t>null median 1.04×, 95th percentile 1.24× — it does not clear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B2182B"/>
                </a:solidFill>
                <a:latin typeface="Helvetica Neue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081528"/>
            <a:ext cx="101800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A1A1A"/>
                </a:solidFill>
                <a:latin typeface="Helvetica Neue"/>
              </a:rPr>
              <a:t>The trained model is WORSE than a scorer that fits nothing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474720"/>
            <a:ext cx="101800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Helvetica Neue"/>
              </a:rPr>
              <a:t>gap −0.039, 95% CI [−0.058, −0.023] — the interval excludes zero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2062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B2182B"/>
                </a:solidFill>
                <a:latin typeface="Helvetica Neue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224528"/>
            <a:ext cx="101800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A1A1A"/>
                </a:solidFill>
                <a:latin typeface="Helvetica Neue"/>
              </a:rPr>
              <a:t>Permutation p = 0.894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4617720"/>
            <a:ext cx="101800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Helvetica Neue"/>
              </a:rPr>
              <a:t>against the corrected outcome, the ranking is indistinguishable from chance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5577840"/>
            <a:ext cx="10820095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76072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66666"/>
                </a:solidFill>
                <a:latin typeface="Helvetica Neue"/>
              </a:rPr>
              <a:t>8 of 11 literature constraints are binding — pinned at exactly 0.0 because this cohort pulls the other way.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66666"/>
                </a:solidFill>
                <a:latin typeface="Helvetica Neue"/>
              </a:rPr>
              <a:t>Obesity-status directions largely do not transfer to forecasting 12-month change here.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66666"/>
                </a:solidFill>
                <a:latin typeface="Helvetica Neue"/>
              </a:rPr>
              <a:t>THE OTHER 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A1A"/>
                </a:solidFill>
                <a:latin typeface="Helvetica Neue"/>
              </a:rPr>
              <a:t>The continuous forecast, same treatment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81328"/>
            <a:ext cx="10820095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ntinuous_forecast_ma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8342" y="1828800"/>
            <a:ext cx="7155010" cy="3383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440680"/>
            <a:ext cx="108200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A1A1A"/>
                </a:solidFill>
                <a:latin typeface="Helvetica Neue"/>
              </a:rPr>
              <a:t>Forecasting the 12-month profile beats predicting the training-fold mean by 0.0078 MAE — but the 95% interval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A1A1A"/>
                </a:solidFill>
                <a:latin typeface="Helvetica Neue"/>
              </a:rPr>
              <a:t>spans zero, so it is not distinguishable from noise at n=71. It does clearly beat persistence.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A1A1A"/>
                </a:solidFill>
                <a:latin typeface="Helvetica Neue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A1A1A"/>
                </a:solidFill>
                <a:latin typeface="Helvetica Neue"/>
              </a:rPr>
              <a:t>The pooled R² of 0.931 is not performance: it is driven by scale differences between metabolites. Median per-metabolite R² is -0.013.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66666"/>
                </a:solidFill>
                <a:latin typeface="Helvetica Neue"/>
              </a:rPr>
              <a:t>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A1A"/>
                </a:solidFill>
                <a:latin typeface="Helvetica Neue"/>
              </a:rPr>
              <a:t>The controls, reusable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81328"/>
            <a:ext cx="10820095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F6F8B"/>
                </a:solidFill>
                <a:latin typeface="Helvetica Neue"/>
              </a:rPr>
              <a:t>No-learning scorer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1828800"/>
            <a:ext cx="7619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1A1A1A"/>
                </a:solidFill>
                <a:latin typeface="Helvetica Neue"/>
              </a:rPr>
              <a:t>Sum of signed, z-scored baseline markers. Catches a model that has not converged or has learned nothing its inputs did not already say. Every trained model is reported next to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346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F6F8B"/>
                </a:solidFill>
                <a:latin typeface="Helvetica Neue"/>
              </a:rPr>
              <a:t>Pairing-destroyed null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86200" y="2834640"/>
            <a:ext cx="7619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1A1A1A"/>
                </a:solidFill>
                <a:latin typeface="Helvetica Neue"/>
              </a:rPr>
              <a:t>Shuffle which future belongs to which subject, then rebuild the outcome from scratch. Catches an outcome manufactured from the features. This is the one that mattered.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840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F6F8B"/>
                </a:solidFill>
                <a:latin typeface="Helvetica Neue"/>
              </a:rPr>
              <a:t>Label-permutation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6200" y="3840480"/>
            <a:ext cx="7619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1A1A1A"/>
                </a:solidFill>
                <a:latin typeface="Helvetica Neue"/>
              </a:rPr>
              <a:t>Necessary, and demonstrably not sufficient — it returned p = 0.002 on the broken setup.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846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F6F8B"/>
                </a:solidFill>
                <a:latin typeface="Helvetica Neue"/>
              </a:rPr>
              <a:t>Paired bootstrap intervals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4846320"/>
            <a:ext cx="7619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1A1A1A"/>
                </a:solidFill>
                <a:latin typeface="Helvetica Neue"/>
              </a:rPr>
              <a:t>On every model-versus-baseline gap, resampling subjects together. A 2.4% edge without an interval is not a result.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5943600"/>
            <a:ext cx="10820095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6126480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A1A1A"/>
                </a:solidFill>
                <a:latin typeface="Helvetica Neue"/>
              </a:rPr>
              <a:t>Reach for the pairing-destroyed null in any longitudinal change-score analysis where baseline is also a feature.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66666"/>
                </a:solidFill>
                <a:latin typeface="Helvetica Neue"/>
              </a:rPr>
              <a:t>HONEST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A1A"/>
                </a:solidFill>
                <a:latin typeface="Helvetica Neue"/>
              </a:rPr>
              <a:t>What this does not say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81328"/>
            <a:ext cx="10820095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1082009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1A1A1A"/>
                </a:solidFill>
                <a:latin typeface="Helvetica Neue"/>
              </a:rPr>
              <a:t>It does not say pre-operative NMR cannot forecast metabolic response.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1A1A1A"/>
                </a:solidFill>
                <a:latin typeface="Helvetica Neue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1A1A1A"/>
                </a:solidFill>
                <a:latin typeface="Helvetica Neue"/>
              </a:rPr>
              <a:t>It says this cohort, at n=71, with this outcome, does not demonstrate that it does.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1A1A1A"/>
                </a:solidFill>
                <a:latin typeface="Helvetica Neue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1A1A1A"/>
                </a:solidFill>
                <a:latin typeface="Helvetica Neue"/>
              </a:rPr>
              <a:t>A cohort with linked clinical outcomes — weight loss, remission, treatment type — and enough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1A1A1A"/>
                </a:solidFill>
                <a:latin typeface="Helvetica Neue"/>
              </a:rPr>
              <a:t>subjects to estimate a small effect could still find one. MTBLS242's public metadata has none.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4754880"/>
            <a:ext cx="10820095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937760"/>
            <a:ext cx="108200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66666"/>
                </a:solidFill>
                <a:latin typeface="Helvetica Neue"/>
              </a:rPr>
              <a:t>Also unresolved: (R)-3-Hydroxybutyric acid is 45% zeros — below-detection readings that log1p maps to exactly 0.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66666"/>
                </a:solidFill>
                <a:latin typeface="Helvetica Neue"/>
              </a:rPr>
              <a:t>Bariatric patients only, so nothing about the general population or about outcomes without surgery.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66666"/>
                </a:solidFill>
                <a:latin typeface="Helvetica Neue"/>
              </a:rPr>
              <a:t>A metabolite profile is not a clinical outcome.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